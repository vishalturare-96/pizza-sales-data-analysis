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86145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1205606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503382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5DD9CD-9BD0-427E-A8B8-8C5D2A97F0A6}"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2303975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5DD9CD-9BD0-427E-A8B8-8C5D2A97F0A6}"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1468203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85760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2612853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61466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5DD9CD-9BD0-427E-A8B8-8C5D2A97F0A6}"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111614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5DD9CD-9BD0-427E-A8B8-8C5D2A97F0A6}"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3275766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181546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276467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1749364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2316859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3625630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33887355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5DD9CD-9BD0-427E-A8B8-8C5D2A97F0A6}"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57B644-EF3E-493A-A1BC-D2036AC2956B}" type="slidenum">
              <a:rPr lang="en-IN" smtClean="0"/>
              <a:t>‹#›</a:t>
            </a:fld>
            <a:endParaRPr lang="en-IN"/>
          </a:p>
        </p:txBody>
      </p:sp>
    </p:spTree>
    <p:extLst>
      <p:ext uri="{BB962C8B-B14F-4D97-AF65-F5344CB8AC3E}">
        <p14:creationId xmlns:p14="http://schemas.microsoft.com/office/powerpoint/2010/main" val="3424403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E25DD9CD-9BD0-427E-A8B8-8C5D2A97F0A6}" type="datetimeFigureOut">
              <a:rPr lang="en-IN" smtClean="0"/>
              <a:t>02-03-2026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57B644-EF3E-493A-A1BC-D2036AC2956B}" type="slidenum">
              <a:rPr lang="en-IN" smtClean="0"/>
              <a:t>‹#›</a:t>
            </a:fld>
            <a:endParaRPr lang="en-IN"/>
          </a:p>
        </p:txBody>
      </p:sp>
    </p:spTree>
    <p:extLst>
      <p:ext uri="{BB962C8B-B14F-4D97-AF65-F5344CB8AC3E}">
        <p14:creationId xmlns:p14="http://schemas.microsoft.com/office/powerpoint/2010/main" val="51267914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81C8-E6D2-FD68-FAFA-1120D315F835}"/>
              </a:ext>
            </a:extLst>
          </p:cNvPr>
          <p:cNvSpPr>
            <a:spLocks noGrp="1"/>
          </p:cNvSpPr>
          <p:nvPr>
            <p:ph type="ctrTitle"/>
          </p:nvPr>
        </p:nvSpPr>
        <p:spPr>
          <a:xfrm>
            <a:off x="424873" y="249382"/>
            <a:ext cx="8442035" cy="969818"/>
          </a:xfrm>
        </p:spPr>
        <p:txBody>
          <a:bodyPr>
            <a:noAutofit/>
          </a:bodyPr>
          <a:lstStyle/>
          <a:p>
            <a:r>
              <a:rPr lang="en-US" sz="6000" dirty="0"/>
              <a:t>Problem Statement</a:t>
            </a:r>
            <a:endParaRPr lang="en-IN" sz="6000" dirty="0"/>
          </a:p>
        </p:txBody>
      </p:sp>
      <p:sp>
        <p:nvSpPr>
          <p:cNvPr id="5" name="TextBox 4">
            <a:extLst>
              <a:ext uri="{FF2B5EF4-FFF2-40B4-BE49-F238E27FC236}">
                <a16:creationId xmlns:a16="http://schemas.microsoft.com/office/drawing/2014/main" id="{8891DA26-9EF2-72C4-9B73-89F55C41D711}"/>
              </a:ext>
            </a:extLst>
          </p:cNvPr>
          <p:cNvSpPr txBox="1"/>
          <p:nvPr/>
        </p:nvSpPr>
        <p:spPr>
          <a:xfrm>
            <a:off x="424873" y="1385455"/>
            <a:ext cx="3796146" cy="584775"/>
          </a:xfrm>
          <a:prstGeom prst="rect">
            <a:avLst/>
          </a:prstGeom>
          <a:noFill/>
        </p:spPr>
        <p:txBody>
          <a:bodyPr wrap="square" rtlCol="0">
            <a:spAutoFit/>
          </a:bodyPr>
          <a:lstStyle/>
          <a:p>
            <a:r>
              <a:rPr lang="en-US" sz="3200" b="1" dirty="0">
                <a:solidFill>
                  <a:schemeClr val="tx2"/>
                </a:solidFill>
              </a:rPr>
              <a:t>KPI’s Requirement</a:t>
            </a:r>
          </a:p>
        </p:txBody>
      </p:sp>
      <p:sp>
        <p:nvSpPr>
          <p:cNvPr id="8" name="TextBox 7">
            <a:extLst>
              <a:ext uri="{FF2B5EF4-FFF2-40B4-BE49-F238E27FC236}">
                <a16:creationId xmlns:a16="http://schemas.microsoft.com/office/drawing/2014/main" id="{3F682EB0-91C7-7C60-B1EA-C1D20260B24A}"/>
              </a:ext>
            </a:extLst>
          </p:cNvPr>
          <p:cNvSpPr txBox="1"/>
          <p:nvPr/>
        </p:nvSpPr>
        <p:spPr>
          <a:xfrm>
            <a:off x="420255" y="2811700"/>
            <a:ext cx="7670798" cy="369332"/>
          </a:xfrm>
          <a:prstGeom prst="rect">
            <a:avLst/>
          </a:prstGeom>
          <a:noFill/>
        </p:spPr>
        <p:txBody>
          <a:bodyPr wrap="square">
            <a:spAutoFit/>
          </a:bodyPr>
          <a:lstStyle/>
          <a:p>
            <a:r>
              <a:rPr lang="en-US" b="1" dirty="0">
                <a:solidFill>
                  <a:schemeClr val="tx2"/>
                </a:solidFill>
              </a:rPr>
              <a:t>1. Total Revenue : </a:t>
            </a:r>
            <a:r>
              <a:rPr lang="en-US" dirty="0">
                <a:solidFill>
                  <a:srgbClr val="FFFF00"/>
                </a:solidFill>
                <a:effectLst/>
                <a:ea typeface="Calibri" panose="020F0502020204030204" pitchFamily="34" charset="0"/>
                <a:cs typeface="Times New Roman" panose="02020603050405020304" pitchFamily="18" charset="0"/>
              </a:rPr>
              <a:t>The sum of the total price of all pizza orders.</a:t>
            </a:r>
            <a:endParaRPr lang="en-IN" dirty="0">
              <a:solidFill>
                <a:srgbClr val="FFFF00"/>
              </a:solidFill>
            </a:endParaRPr>
          </a:p>
        </p:txBody>
      </p:sp>
      <p:sp>
        <p:nvSpPr>
          <p:cNvPr id="13" name="TextBox 12">
            <a:extLst>
              <a:ext uri="{FF2B5EF4-FFF2-40B4-BE49-F238E27FC236}">
                <a16:creationId xmlns:a16="http://schemas.microsoft.com/office/drawing/2014/main" id="{1EF0E9AA-7495-DF71-94C4-D79C60C2439C}"/>
              </a:ext>
            </a:extLst>
          </p:cNvPr>
          <p:cNvSpPr txBox="1"/>
          <p:nvPr/>
        </p:nvSpPr>
        <p:spPr>
          <a:xfrm>
            <a:off x="420255" y="4170781"/>
            <a:ext cx="7518400" cy="369332"/>
          </a:xfrm>
          <a:prstGeom prst="rect">
            <a:avLst/>
          </a:prstGeom>
          <a:noFill/>
        </p:spPr>
        <p:txBody>
          <a:bodyPr wrap="square" rtlCol="0">
            <a:spAutoFit/>
          </a:bodyPr>
          <a:lstStyle/>
          <a:p>
            <a:r>
              <a:rPr lang="en-US" b="1" dirty="0">
                <a:solidFill>
                  <a:schemeClr val="tx2"/>
                </a:solidFill>
              </a:rPr>
              <a:t>3. </a:t>
            </a:r>
            <a:r>
              <a:rPr lang="en-US" sz="1800" b="1" dirty="0">
                <a:solidFill>
                  <a:schemeClr val="tx2"/>
                </a:solidFill>
                <a:effectLst/>
                <a:ea typeface="Calibri" panose="020F0502020204030204" pitchFamily="34" charset="0"/>
                <a:cs typeface="Times New Roman" panose="02020603050405020304" pitchFamily="18" charset="0"/>
              </a:rPr>
              <a:t>Total Pizzas Sold : </a:t>
            </a:r>
            <a:r>
              <a:rPr lang="en-US" sz="1800" dirty="0">
                <a:solidFill>
                  <a:srgbClr val="FFFF00"/>
                </a:solidFill>
                <a:effectLst/>
                <a:ea typeface="Calibri" panose="020F0502020204030204" pitchFamily="34" charset="0"/>
                <a:cs typeface="Times New Roman" panose="02020603050405020304" pitchFamily="18" charset="0"/>
              </a:rPr>
              <a:t>The sum of the quantities of all pizzas sold.</a:t>
            </a:r>
            <a:r>
              <a:rPr lang="en-US" sz="1800" dirty="0">
                <a:solidFill>
                  <a:srgbClr val="548235"/>
                </a:solidFill>
                <a:effectLst/>
                <a:ea typeface="Calibri" panose="020F0502020204030204" pitchFamily="34" charset="0"/>
                <a:cs typeface="Times New Roman" panose="02020603050405020304" pitchFamily="18" charset="0"/>
              </a:rPr>
              <a:t>…..</a:t>
            </a:r>
            <a:r>
              <a:rPr lang="en-US" sz="1800" dirty="0">
                <a:effectLst/>
                <a:ea typeface="Calibri" panose="020F0502020204030204" pitchFamily="34" charset="0"/>
                <a:cs typeface="Times New Roman" panose="02020603050405020304" pitchFamily="18" charset="0"/>
              </a:rPr>
              <a:t> </a:t>
            </a:r>
            <a:endParaRPr lang="en-IN" dirty="0"/>
          </a:p>
        </p:txBody>
      </p:sp>
      <p:sp>
        <p:nvSpPr>
          <p:cNvPr id="16" name="TextBox 15">
            <a:extLst>
              <a:ext uri="{FF2B5EF4-FFF2-40B4-BE49-F238E27FC236}">
                <a16:creationId xmlns:a16="http://schemas.microsoft.com/office/drawing/2014/main" id="{6B49EF9A-E34E-68E5-B980-50B56ABC8B10}"/>
              </a:ext>
            </a:extLst>
          </p:cNvPr>
          <p:cNvSpPr txBox="1"/>
          <p:nvPr/>
        </p:nvSpPr>
        <p:spPr>
          <a:xfrm>
            <a:off x="420255" y="4666364"/>
            <a:ext cx="8280398" cy="375552"/>
          </a:xfrm>
          <a:prstGeom prst="rect">
            <a:avLst/>
          </a:prstGeom>
          <a:noFill/>
        </p:spPr>
        <p:txBody>
          <a:bodyPr wrap="square" rtlCol="0">
            <a:spAutoFit/>
          </a:bodyPr>
          <a:lstStyle/>
          <a:p>
            <a:pPr lvl="0">
              <a:lnSpc>
                <a:spcPct val="107000"/>
              </a:lnSpc>
              <a:spcAft>
                <a:spcPts val="800"/>
              </a:spcAft>
            </a:pPr>
            <a:r>
              <a:rPr lang="en-US" sz="1800" b="1" kern="100" dirty="0">
                <a:solidFill>
                  <a:schemeClr val="tx2"/>
                </a:solidFill>
                <a:effectLst/>
                <a:ea typeface="Calibri" panose="020F0502020204030204" pitchFamily="34" charset="0"/>
                <a:cs typeface="Times New Roman" panose="02020603050405020304" pitchFamily="18" charset="0"/>
              </a:rPr>
              <a:t>4. Total Order : </a:t>
            </a:r>
            <a:r>
              <a:rPr lang="en-US" sz="1800" kern="100" dirty="0">
                <a:solidFill>
                  <a:srgbClr val="FFFF00"/>
                </a:solidFill>
                <a:effectLst/>
                <a:ea typeface="Calibri" panose="020F0502020204030204" pitchFamily="34" charset="0"/>
                <a:cs typeface="Times New Roman" panose="02020603050405020304" pitchFamily="18" charset="0"/>
              </a:rPr>
              <a:t>The total number of orders placed.</a:t>
            </a:r>
            <a:endParaRPr lang="en-IN" sz="1800" kern="100" dirty="0">
              <a:solidFill>
                <a:srgbClr val="FFFF00"/>
              </a:solidFill>
              <a:effectLst/>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CD22B01-8CC9-057C-A01A-756CF6740EF1}"/>
              </a:ext>
            </a:extLst>
          </p:cNvPr>
          <p:cNvSpPr txBox="1"/>
          <p:nvPr/>
        </p:nvSpPr>
        <p:spPr>
          <a:xfrm>
            <a:off x="420255" y="5278581"/>
            <a:ext cx="9130145" cy="646331"/>
          </a:xfrm>
          <a:prstGeom prst="rect">
            <a:avLst/>
          </a:prstGeom>
          <a:noFill/>
        </p:spPr>
        <p:txBody>
          <a:bodyPr wrap="square" rtlCol="0">
            <a:spAutoFit/>
          </a:bodyPr>
          <a:lstStyle/>
          <a:p>
            <a:r>
              <a:rPr lang="en-US" sz="1800" b="1" dirty="0">
                <a:solidFill>
                  <a:schemeClr val="tx2"/>
                </a:solidFill>
                <a:effectLst/>
                <a:ea typeface="Calibri" panose="020F0502020204030204" pitchFamily="34" charset="0"/>
                <a:cs typeface="Times New Roman" panose="02020603050405020304" pitchFamily="18" charset="0"/>
              </a:rPr>
              <a:t>5. Average Pizzas Per Order : </a:t>
            </a:r>
            <a:r>
              <a:rPr lang="en-US" sz="1800" dirty="0">
                <a:solidFill>
                  <a:srgbClr val="FFFF00"/>
                </a:solidFill>
                <a:effectLst/>
                <a:ea typeface="Calibri" panose="020F0502020204030204" pitchFamily="34" charset="0"/>
                <a:cs typeface="Times New Roman" panose="02020603050405020304" pitchFamily="18" charset="0"/>
              </a:rPr>
              <a:t>The average number of pizzas sold per order, calculated by the total number of pizzas sold by the total number of orders. </a:t>
            </a:r>
            <a:endParaRPr lang="en-IN" dirty="0">
              <a:solidFill>
                <a:srgbClr val="FFFF00"/>
              </a:solidFill>
            </a:endParaRPr>
          </a:p>
        </p:txBody>
      </p:sp>
      <p:sp>
        <p:nvSpPr>
          <p:cNvPr id="20" name="TextBox 19">
            <a:extLst>
              <a:ext uri="{FF2B5EF4-FFF2-40B4-BE49-F238E27FC236}">
                <a16:creationId xmlns:a16="http://schemas.microsoft.com/office/drawing/2014/main" id="{CC32F154-AEE6-5A50-FADC-409ACF82DF70}"/>
              </a:ext>
            </a:extLst>
          </p:cNvPr>
          <p:cNvSpPr txBox="1"/>
          <p:nvPr/>
        </p:nvSpPr>
        <p:spPr>
          <a:xfrm>
            <a:off x="420255" y="3372615"/>
            <a:ext cx="9060873" cy="671915"/>
          </a:xfrm>
          <a:prstGeom prst="rect">
            <a:avLst/>
          </a:prstGeom>
          <a:noFill/>
        </p:spPr>
        <p:txBody>
          <a:bodyPr wrap="square" rtlCol="0">
            <a:spAutoFit/>
          </a:bodyPr>
          <a:lstStyle/>
          <a:p>
            <a:pPr lvl="0">
              <a:lnSpc>
                <a:spcPct val="107000"/>
              </a:lnSpc>
              <a:spcAft>
                <a:spcPts val="800"/>
              </a:spcAft>
            </a:pPr>
            <a:r>
              <a:rPr lang="en-US" sz="1800" b="1" kern="100" dirty="0">
                <a:solidFill>
                  <a:schemeClr val="tx2"/>
                </a:solidFill>
                <a:effectLst/>
                <a:ea typeface="Calibri" panose="020F0502020204030204" pitchFamily="34" charset="0"/>
                <a:cs typeface="Times New Roman" panose="02020603050405020304" pitchFamily="18" charset="0"/>
              </a:rPr>
              <a:t>2. Average Order Value : </a:t>
            </a:r>
            <a:r>
              <a:rPr lang="en-US" sz="1800" kern="100" dirty="0">
                <a:solidFill>
                  <a:srgbClr val="FFFF00"/>
                </a:solidFill>
                <a:effectLst/>
                <a:ea typeface="Calibri" panose="020F0502020204030204" pitchFamily="34" charset="0"/>
                <a:cs typeface="Times New Roman" panose="02020603050405020304" pitchFamily="18" charset="0"/>
              </a:rPr>
              <a:t>The average amount spent per order, calculated by dividing the total revenue by the total number of orders.</a:t>
            </a:r>
            <a:endParaRPr lang="en-IN" sz="1800" kern="100" dirty="0">
              <a:solidFill>
                <a:srgbClr val="FFFF00"/>
              </a:solidFill>
              <a:effectLst/>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2ACAABF2-E319-47E3-AE68-C9255F3277F1}"/>
              </a:ext>
            </a:extLst>
          </p:cNvPr>
          <p:cNvSpPr txBox="1"/>
          <p:nvPr/>
        </p:nvSpPr>
        <p:spPr>
          <a:xfrm>
            <a:off x="420255" y="1932891"/>
            <a:ext cx="10012218" cy="646331"/>
          </a:xfrm>
          <a:prstGeom prst="rect">
            <a:avLst/>
          </a:prstGeom>
          <a:noFill/>
        </p:spPr>
        <p:txBody>
          <a:bodyPr wrap="square" rtlCol="0">
            <a:spAutoFit/>
          </a:bodyPr>
          <a:lstStyle/>
          <a:p>
            <a:r>
              <a:rPr lang="en-US" dirty="0">
                <a:solidFill>
                  <a:srgbClr val="FFFF00"/>
                </a:solidFill>
              </a:rPr>
              <a:t>Here we are going to analyze key indicators of for our pizza sales data to gain insight into our business performance, by calculating following metrics.</a:t>
            </a:r>
            <a:endParaRPr lang="en-IN" dirty="0">
              <a:solidFill>
                <a:srgbClr val="FFFF00"/>
              </a:solidFill>
            </a:endParaRPr>
          </a:p>
        </p:txBody>
      </p:sp>
    </p:spTree>
    <p:extLst>
      <p:ext uri="{BB962C8B-B14F-4D97-AF65-F5344CB8AC3E}">
        <p14:creationId xmlns:p14="http://schemas.microsoft.com/office/powerpoint/2010/main" val="3611905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ECEC9-B0B7-9205-A985-7AD2EB8DDD94}"/>
              </a:ext>
            </a:extLst>
          </p:cNvPr>
          <p:cNvSpPr>
            <a:spLocks noGrp="1"/>
          </p:cNvSpPr>
          <p:nvPr>
            <p:ph type="title"/>
          </p:nvPr>
        </p:nvSpPr>
        <p:spPr>
          <a:xfrm>
            <a:off x="646111" y="267856"/>
            <a:ext cx="8008362" cy="1025236"/>
          </a:xfrm>
        </p:spPr>
        <p:txBody>
          <a:bodyPr/>
          <a:lstStyle/>
          <a:p>
            <a:r>
              <a:rPr lang="en-US" sz="6000" dirty="0"/>
              <a:t>Problem Statement</a:t>
            </a:r>
            <a:endParaRPr lang="en-IN" sz="6000" dirty="0"/>
          </a:p>
        </p:txBody>
      </p:sp>
      <p:sp>
        <p:nvSpPr>
          <p:cNvPr id="4" name="TextBox 3">
            <a:extLst>
              <a:ext uri="{FF2B5EF4-FFF2-40B4-BE49-F238E27FC236}">
                <a16:creationId xmlns:a16="http://schemas.microsoft.com/office/drawing/2014/main" id="{7482E4E4-35B8-A70E-9E91-1E0EFFE36552}"/>
              </a:ext>
            </a:extLst>
          </p:cNvPr>
          <p:cNvSpPr txBox="1"/>
          <p:nvPr/>
        </p:nvSpPr>
        <p:spPr>
          <a:xfrm>
            <a:off x="646111" y="1443182"/>
            <a:ext cx="6169891" cy="584775"/>
          </a:xfrm>
          <a:prstGeom prst="rect">
            <a:avLst/>
          </a:prstGeom>
          <a:noFill/>
        </p:spPr>
        <p:txBody>
          <a:bodyPr wrap="square" rtlCol="0">
            <a:spAutoFit/>
          </a:bodyPr>
          <a:lstStyle/>
          <a:p>
            <a:r>
              <a:rPr lang="en-US" sz="3200" b="1" dirty="0">
                <a:solidFill>
                  <a:schemeClr val="tx2"/>
                </a:solidFill>
                <a:latin typeface="+mj-lt"/>
              </a:rPr>
              <a:t>Other Business Requirements</a:t>
            </a:r>
            <a:endParaRPr lang="en-IN" sz="3200" b="1" dirty="0">
              <a:solidFill>
                <a:schemeClr val="tx2"/>
              </a:solidFill>
              <a:latin typeface="+mj-lt"/>
            </a:endParaRPr>
          </a:p>
        </p:txBody>
      </p:sp>
      <p:sp>
        <p:nvSpPr>
          <p:cNvPr id="6" name="TextBox 5">
            <a:extLst>
              <a:ext uri="{FF2B5EF4-FFF2-40B4-BE49-F238E27FC236}">
                <a16:creationId xmlns:a16="http://schemas.microsoft.com/office/drawing/2014/main" id="{EF00A9FB-2F27-6F85-2DF8-D62490F23356}"/>
              </a:ext>
            </a:extLst>
          </p:cNvPr>
          <p:cNvSpPr txBox="1"/>
          <p:nvPr/>
        </p:nvSpPr>
        <p:spPr>
          <a:xfrm>
            <a:off x="822037" y="3583709"/>
            <a:ext cx="6604000"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009A079E-9A54-13AC-5AC4-6CA73B1310BD}"/>
              </a:ext>
            </a:extLst>
          </p:cNvPr>
          <p:cNvSpPr txBox="1"/>
          <p:nvPr/>
        </p:nvSpPr>
        <p:spPr>
          <a:xfrm>
            <a:off x="646111" y="2178047"/>
            <a:ext cx="9523125" cy="646331"/>
          </a:xfrm>
          <a:prstGeom prst="rect">
            <a:avLst/>
          </a:prstGeom>
          <a:noFill/>
        </p:spPr>
        <p:txBody>
          <a:bodyPr wrap="square" rtlCol="0">
            <a:spAutoFit/>
          </a:bodyPr>
          <a:lstStyle/>
          <a:p>
            <a:r>
              <a:rPr lang="en-US" dirty="0">
                <a:solidFill>
                  <a:srgbClr val="FFFF00"/>
                </a:solidFill>
              </a:rPr>
              <a:t>Here we are going to visualize various aspect of pizza sales data to gain insights and understand key trends by creating charts of following requirements.</a:t>
            </a:r>
            <a:endParaRPr lang="en-IN" dirty="0">
              <a:solidFill>
                <a:srgbClr val="FFFF00"/>
              </a:solidFill>
            </a:endParaRPr>
          </a:p>
        </p:txBody>
      </p:sp>
      <p:sp>
        <p:nvSpPr>
          <p:cNvPr id="9" name="TextBox 8">
            <a:extLst>
              <a:ext uri="{FF2B5EF4-FFF2-40B4-BE49-F238E27FC236}">
                <a16:creationId xmlns:a16="http://schemas.microsoft.com/office/drawing/2014/main" id="{54F6E124-E05B-7E14-940D-7178D335F49E}"/>
              </a:ext>
            </a:extLst>
          </p:cNvPr>
          <p:cNvSpPr txBox="1"/>
          <p:nvPr/>
        </p:nvSpPr>
        <p:spPr>
          <a:xfrm>
            <a:off x="646111" y="2967335"/>
            <a:ext cx="10427856" cy="923330"/>
          </a:xfrm>
          <a:prstGeom prst="rect">
            <a:avLst/>
          </a:prstGeom>
          <a:noFill/>
        </p:spPr>
        <p:txBody>
          <a:bodyPr wrap="square" rtlCol="0">
            <a:spAutoFit/>
          </a:bodyPr>
          <a:lstStyle/>
          <a:p>
            <a:r>
              <a:rPr lang="en-US" b="1" dirty="0">
                <a:latin typeface="+mj-lt"/>
              </a:rPr>
              <a:t>1. Daily Trend For Total Order : </a:t>
            </a:r>
          </a:p>
          <a:p>
            <a:r>
              <a:rPr lang="en-US" dirty="0">
                <a:solidFill>
                  <a:srgbClr val="FFFF00"/>
                </a:solidFill>
              </a:rPr>
              <a:t>Create a bar chart that displays the daily trend of total order over a specific time period. This chart will help us to identify any pattern of fluctuations in order volume in daily basis.</a:t>
            </a:r>
            <a:endParaRPr lang="en-IN" dirty="0">
              <a:solidFill>
                <a:srgbClr val="FFFF00"/>
              </a:solidFill>
            </a:endParaRPr>
          </a:p>
        </p:txBody>
      </p:sp>
      <p:sp>
        <p:nvSpPr>
          <p:cNvPr id="11" name="TextBox 10">
            <a:extLst>
              <a:ext uri="{FF2B5EF4-FFF2-40B4-BE49-F238E27FC236}">
                <a16:creationId xmlns:a16="http://schemas.microsoft.com/office/drawing/2014/main" id="{8C5072F2-F9C0-A294-466B-1C68107687E8}"/>
              </a:ext>
            </a:extLst>
          </p:cNvPr>
          <p:cNvSpPr txBox="1"/>
          <p:nvPr/>
        </p:nvSpPr>
        <p:spPr>
          <a:xfrm>
            <a:off x="646111" y="4033622"/>
            <a:ext cx="10104582" cy="923330"/>
          </a:xfrm>
          <a:prstGeom prst="rect">
            <a:avLst/>
          </a:prstGeom>
          <a:noFill/>
        </p:spPr>
        <p:txBody>
          <a:bodyPr wrap="square" rtlCol="0">
            <a:spAutoFit/>
          </a:bodyPr>
          <a:lstStyle/>
          <a:p>
            <a:r>
              <a:rPr lang="en-US" b="1" dirty="0"/>
              <a:t>2. Hourly Trend For Total Order : </a:t>
            </a:r>
          </a:p>
          <a:p>
            <a:r>
              <a:rPr lang="en-IN" dirty="0">
                <a:solidFill>
                  <a:srgbClr val="FFFF00"/>
                </a:solidFill>
              </a:rPr>
              <a:t>Create a line chart that illustrates the hourly trend of total order throughout the day. This chart will allows us to identify peak hours of high order activity.</a:t>
            </a:r>
          </a:p>
        </p:txBody>
      </p:sp>
      <p:sp>
        <p:nvSpPr>
          <p:cNvPr id="12" name="TextBox 11">
            <a:extLst>
              <a:ext uri="{FF2B5EF4-FFF2-40B4-BE49-F238E27FC236}">
                <a16:creationId xmlns:a16="http://schemas.microsoft.com/office/drawing/2014/main" id="{A4D9F805-6E7E-4BB7-9AA6-5A5D0255271C}"/>
              </a:ext>
            </a:extLst>
          </p:cNvPr>
          <p:cNvSpPr txBox="1"/>
          <p:nvPr/>
        </p:nvSpPr>
        <p:spPr>
          <a:xfrm>
            <a:off x="646111" y="5099909"/>
            <a:ext cx="9799781" cy="1200329"/>
          </a:xfrm>
          <a:prstGeom prst="rect">
            <a:avLst/>
          </a:prstGeom>
          <a:noFill/>
        </p:spPr>
        <p:txBody>
          <a:bodyPr wrap="square" rtlCol="0">
            <a:spAutoFit/>
          </a:bodyPr>
          <a:lstStyle/>
          <a:p>
            <a:r>
              <a:rPr lang="en-US" b="1" dirty="0"/>
              <a:t>3. Percentage of Sales by Pizza category :</a:t>
            </a:r>
          </a:p>
          <a:p>
            <a:r>
              <a:rPr lang="en-IN" dirty="0">
                <a:solidFill>
                  <a:srgbClr val="FFFF00"/>
                </a:solidFill>
              </a:rPr>
              <a:t>Create the pie chart that shows the distribution of sales across different categories. This chart will provide insight into the popularity of various pizza categories and their distribution to overall sales.</a:t>
            </a:r>
          </a:p>
        </p:txBody>
      </p:sp>
    </p:spTree>
    <p:extLst>
      <p:ext uri="{BB962C8B-B14F-4D97-AF65-F5344CB8AC3E}">
        <p14:creationId xmlns:p14="http://schemas.microsoft.com/office/powerpoint/2010/main" val="8033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983E223-D94A-20AA-C8A6-D97D7F57B3CD}"/>
              </a:ext>
            </a:extLst>
          </p:cNvPr>
          <p:cNvSpPr txBox="1"/>
          <p:nvPr/>
        </p:nvSpPr>
        <p:spPr>
          <a:xfrm>
            <a:off x="581891" y="692727"/>
            <a:ext cx="9744365" cy="1477328"/>
          </a:xfrm>
          <a:prstGeom prst="rect">
            <a:avLst/>
          </a:prstGeom>
          <a:noFill/>
        </p:spPr>
        <p:txBody>
          <a:bodyPr wrap="square" rtlCol="0">
            <a:spAutoFit/>
          </a:bodyPr>
          <a:lstStyle/>
          <a:p>
            <a:r>
              <a:rPr lang="en-US" b="1" dirty="0"/>
              <a:t>4. Percentage of Sales by Pizza Size :</a:t>
            </a:r>
          </a:p>
          <a:p>
            <a:r>
              <a:rPr lang="en-US" dirty="0">
                <a:solidFill>
                  <a:srgbClr val="FFFF00"/>
                </a:solidFill>
              </a:rPr>
              <a:t>Generate a pie chart that represents the percentage of sales attributed to the different pizza size. This chart will help us understand customer preferences for pizza size and their impact on sales.</a:t>
            </a:r>
          </a:p>
          <a:p>
            <a:r>
              <a:rPr lang="en-US" dirty="0"/>
              <a:t> </a:t>
            </a:r>
            <a:endParaRPr lang="en-IN" dirty="0"/>
          </a:p>
        </p:txBody>
      </p:sp>
      <p:sp>
        <p:nvSpPr>
          <p:cNvPr id="6" name="TextBox 5">
            <a:extLst>
              <a:ext uri="{FF2B5EF4-FFF2-40B4-BE49-F238E27FC236}">
                <a16:creationId xmlns:a16="http://schemas.microsoft.com/office/drawing/2014/main" id="{0C820D67-924B-92BF-3A2C-E0568DA4E611}"/>
              </a:ext>
            </a:extLst>
          </p:cNvPr>
          <p:cNvSpPr txBox="1"/>
          <p:nvPr/>
        </p:nvSpPr>
        <p:spPr>
          <a:xfrm>
            <a:off x="581891" y="2013465"/>
            <a:ext cx="9892145" cy="1200329"/>
          </a:xfrm>
          <a:prstGeom prst="rect">
            <a:avLst/>
          </a:prstGeom>
          <a:noFill/>
        </p:spPr>
        <p:txBody>
          <a:bodyPr wrap="square" rtlCol="0">
            <a:spAutoFit/>
          </a:bodyPr>
          <a:lstStyle/>
          <a:p>
            <a:r>
              <a:rPr lang="en-US" b="1" dirty="0"/>
              <a:t>5. Total Pizzas Sold by Pizza category :</a:t>
            </a:r>
          </a:p>
          <a:p>
            <a:r>
              <a:rPr lang="en-US" dirty="0">
                <a:solidFill>
                  <a:srgbClr val="FFFF00"/>
                </a:solidFill>
              </a:rPr>
              <a:t>Create a funnel chart that represents the total number of pizzas sold for each pizza category. This chart will allows us to compare the sales performance of different pizza categories</a:t>
            </a:r>
          </a:p>
        </p:txBody>
      </p:sp>
      <p:sp>
        <p:nvSpPr>
          <p:cNvPr id="8" name="TextBox 7">
            <a:extLst>
              <a:ext uri="{FF2B5EF4-FFF2-40B4-BE49-F238E27FC236}">
                <a16:creationId xmlns:a16="http://schemas.microsoft.com/office/drawing/2014/main" id="{EF8A7F25-7E45-FD58-C1AB-7375E1B85908}"/>
              </a:ext>
            </a:extLst>
          </p:cNvPr>
          <p:cNvSpPr txBox="1"/>
          <p:nvPr/>
        </p:nvSpPr>
        <p:spPr>
          <a:xfrm>
            <a:off x="581890" y="3296890"/>
            <a:ext cx="9892145" cy="923330"/>
          </a:xfrm>
          <a:prstGeom prst="rect">
            <a:avLst/>
          </a:prstGeom>
          <a:noFill/>
        </p:spPr>
        <p:txBody>
          <a:bodyPr wrap="square" rtlCol="0">
            <a:spAutoFit/>
          </a:bodyPr>
          <a:lstStyle/>
          <a:p>
            <a:r>
              <a:rPr lang="en-US" b="1" dirty="0"/>
              <a:t>6. Top 5 Best Seller by Total Pizzas Sold :</a:t>
            </a:r>
          </a:p>
          <a:p>
            <a:r>
              <a:rPr lang="en-IN" dirty="0">
                <a:solidFill>
                  <a:srgbClr val="FFFF00"/>
                </a:solidFill>
              </a:rPr>
              <a:t>Create a bar chart highlighting the top 5 best selling pizzas based on the total number of pizzas sold. This chart will help us to identify the most popular pizza option. </a:t>
            </a:r>
          </a:p>
        </p:txBody>
      </p:sp>
      <p:sp>
        <p:nvSpPr>
          <p:cNvPr id="11" name="TextBox 10">
            <a:extLst>
              <a:ext uri="{FF2B5EF4-FFF2-40B4-BE49-F238E27FC236}">
                <a16:creationId xmlns:a16="http://schemas.microsoft.com/office/drawing/2014/main" id="{CD6A627C-BEF9-A039-A115-5E5E6F471CEB}"/>
              </a:ext>
            </a:extLst>
          </p:cNvPr>
          <p:cNvSpPr txBox="1"/>
          <p:nvPr/>
        </p:nvSpPr>
        <p:spPr>
          <a:xfrm>
            <a:off x="581889" y="4340629"/>
            <a:ext cx="9892145" cy="1200329"/>
          </a:xfrm>
          <a:prstGeom prst="rect">
            <a:avLst/>
          </a:prstGeom>
          <a:noFill/>
        </p:spPr>
        <p:txBody>
          <a:bodyPr wrap="square" rtlCol="0">
            <a:spAutoFit/>
          </a:bodyPr>
          <a:lstStyle/>
          <a:p>
            <a:r>
              <a:rPr lang="en-US" b="1" dirty="0"/>
              <a:t>7. Bottom 5 Worst Seller by Total Pizzas Sold :</a:t>
            </a:r>
          </a:p>
          <a:p>
            <a:r>
              <a:rPr lang="en-IN" dirty="0">
                <a:solidFill>
                  <a:srgbClr val="FFFF00"/>
                </a:solidFill>
              </a:rPr>
              <a:t>Create a bar chart showcasing the bottom 5 worst selling pizzas based on the total number of pizzas sold. This chart will enable us to identify underperforming or less popular pizza options.</a:t>
            </a:r>
          </a:p>
        </p:txBody>
      </p:sp>
    </p:spTree>
    <p:extLst>
      <p:ext uri="{BB962C8B-B14F-4D97-AF65-F5344CB8AC3E}">
        <p14:creationId xmlns:p14="http://schemas.microsoft.com/office/powerpoint/2010/main" val="4131329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91</TotalTime>
  <Words>460</Words>
  <Application>Microsoft Office PowerPoint</Application>
  <PresentationFormat>Widescreen</PresentationFormat>
  <Paragraphs>26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Century Gothic</vt:lpstr>
      <vt:lpstr>Wingdings 3</vt:lpstr>
      <vt:lpstr>Ion</vt:lpstr>
      <vt:lpstr>Problem Statement</vt:lpstr>
      <vt:lpstr>Problem Statement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VISHAL TURARE</dc:creator>
  <cp:lastModifiedBy>VISHAL TURARE</cp:lastModifiedBy>
  <cp:revision>1</cp:revision>
  <dcterms:created xsi:type="dcterms:W3CDTF">2026-03-02T08:27:53Z</dcterms:created>
  <dcterms:modified xsi:type="dcterms:W3CDTF">2026-03-02T09:59:49Z</dcterms:modified>
</cp:coreProperties>
</file>